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rule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777240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lang="vi-VN" sz="5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Kể câu chuyện điều tra</a:t>
            </a:r>
            <a:endParaRPr lang="vi-VN" sz="5200"/>
          </a:p>
        </p:txBody>
      </p:sp>
      <p:sp>
        <p:nvSpPr>
          <p:cNvPr id="4" name="subtitle"/>
          <p:cNvSpPr txBox="1"/>
          <p:nvPr/>
        </p:nvSpPr>
        <p:spPr>
          <a:xfrm>
            <a:off x="731520" y="1965960"/>
            <a:ext cx="996696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</a:pPr>
            <a:r>
              <a:rPr lang="vi-VN" sz="2600">
                <a:solidFill>
                  <a:srgbClr val="374151"/>
                </a:solidFill>
                <a:latin typeface="Aptos"/>
                <a:ea typeface="Aptos"/>
                <a:cs typeface="Aptos"/>
              </a:rPr>
              <a:t>Đừng liệt kê file đã sửa. Hãy demo cách đi từ dấu hiệu bất thường đến bằng chứng.</a:t>
            </a:r>
            <a:endParaRPr lang="vi-VN" sz="2600"/>
          </a:p>
        </p:txBody>
      </p:sp>
      <p:sp>
        <p:nvSpPr>
          <p:cNvPr id="5" name="callout box"/>
          <p:cNvSpPr/>
          <p:nvPr/>
        </p:nvSpPr>
        <p:spPr>
          <a:xfrm>
            <a:off x="731520" y="3886200"/>
            <a:ext cx="10698480" cy="914400"/>
          </a:xfrm>
          <a:prstGeom prst="rect">
            <a:avLst/>
          </a:prstGeom>
          <a:solidFill>
            <a:srgbClr val="EEF2FF"/>
          </a:solidFill>
          <a:ln>
            <a:noFill/>
          </a:ln>
        </p:spPr>
      </p:sp>
      <p:sp>
        <p:nvSpPr>
          <p:cNvPr id="6" name="flow"/>
          <p:cNvSpPr txBox="1"/>
          <p:nvPr/>
        </p:nvSpPr>
        <p:spPr>
          <a:xfrm>
            <a:off x="960120" y="4096512"/>
            <a:ext cx="10149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900"/>
              </a:spcAft>
            </a:pPr>
            <a:r>
              <a:rPr lang="vi-VN" sz="30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Metrics -&gt; Logs -&gt; Traces -&gt; Root cause</a:t>
            </a:r>
            <a:endParaRPr lang="vi-VN"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 accent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50292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lang="vi-VN" sz="4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Luồng demo 5 phút</a:t>
            </a:r>
            <a:endParaRPr lang="vi-VN" sz="4200"/>
          </a:p>
        </p:txBody>
      </p:sp>
      <p:sp>
        <p:nvSpPr>
          <p:cNvPr id="4" name="steps"/>
          <p:cNvSpPr txBox="1"/>
          <p:nvPr/>
        </p:nvSpPr>
        <p:spPr>
          <a:xfrm>
            <a:off x="822960" y="1417320"/>
            <a:ext cx="10241280" cy="3566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700"/>
              </a:spcAft>
            </a:pPr>
            <a:r>
              <a:rPr lang="vi-VN" sz="2300">
                <a:solidFill>
                  <a:srgbClr val="111111"/>
                </a:solidFill>
                <a:latin typeface="Aptos"/>
                <a:ea typeface="Aptos"/>
                <a:cs typeface="Aptos"/>
              </a:rPr>
              <a:t>1. Mở dashboard: chỉ ra metric nào bất thường và khoảng thời gian.</a:t>
            </a:r>
            <a:endParaRPr lang="vi-VN" sz="2300"/>
          </a:p>
          <a:p>
            <a:pPr algn="l">
              <a:spcAft>
                <a:spcPts val="700"/>
              </a:spcAft>
            </a:pPr>
            <a:r>
              <a:rPr lang="vi-VN" sz="2300">
                <a:solidFill>
                  <a:srgbClr val="111111"/>
                </a:solidFill>
                <a:latin typeface="Aptos"/>
                <a:ea typeface="Aptos"/>
                <a:cs typeface="Aptos"/>
              </a:rPr>
              <a:t>2. Mở log: lấy một correlation_id đại diện cho request bị ảnh hưởng.</a:t>
            </a:r>
            <a:endParaRPr lang="vi-VN" sz="2300"/>
          </a:p>
          <a:p>
            <a:pPr algn="l">
              <a:spcAft>
                <a:spcPts val="700"/>
              </a:spcAft>
            </a:pPr>
            <a:r>
              <a:rPr lang="vi-VN" sz="2300">
                <a:solidFill>
                  <a:srgbClr val="111111"/>
                </a:solidFill>
                <a:latin typeface="Aptos"/>
                <a:ea typeface="Aptos"/>
                <a:cs typeface="Aptos"/>
              </a:rPr>
              <a:t>3. Mở trace: tìm cùng correlation_id và chỉ ra bước bất thường.</a:t>
            </a:r>
            <a:endParaRPr lang="vi-VN" sz="2300"/>
          </a:p>
          <a:p>
            <a:pPr algn="l">
              <a:spcAft>
                <a:spcPts val="700"/>
              </a:spcAft>
            </a:pPr>
            <a:r>
              <a:rPr lang="vi-VN" sz="2300">
                <a:solidFill>
                  <a:srgbClr val="111111"/>
                </a:solidFill>
                <a:latin typeface="Aptos"/>
                <a:ea typeface="Aptos"/>
                <a:cs typeface="Aptos"/>
              </a:rPr>
              <a:t>4. Kết luận: root cause, cách xử lý, cách phòng tránh.</a:t>
            </a:r>
            <a:endParaRPr lang="vi-VN" sz="2300"/>
          </a:p>
        </p:txBody>
      </p:sp>
      <p:sp>
        <p:nvSpPr>
          <p:cNvPr id="5" name="bottom note"/>
          <p:cNvSpPr/>
          <p:nvPr/>
        </p:nvSpPr>
        <p:spPr>
          <a:xfrm>
            <a:off x="822960" y="5166360"/>
            <a:ext cx="1024128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6" name="note"/>
          <p:cNvSpPr txBox="1"/>
          <p:nvPr/>
        </p:nvSpPr>
        <p:spPr>
          <a:xfrm>
            <a:off x="1005840" y="5321808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900"/>
              </a:spcAft>
            </a:pPr>
            <a:r>
              <a:rPr lang="vi-VN" sz="19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Câu nói cần tránh: "em đoán là...". Câu nên nói: "evidence cho thấy..."</a:t>
            </a:r>
            <a:endParaRPr lang="vi-VN"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4864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lang="vi-VN" sz="4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Checklist trước khi đứng demo</a:t>
            </a:r>
            <a:endParaRPr lang="vi-VN" sz="4200"/>
          </a:p>
        </p:txBody>
      </p:sp>
      <p:sp>
        <p:nvSpPr>
          <p:cNvPr id="3" name="left panel"/>
          <p:cNvSpPr/>
          <p:nvPr/>
        </p:nvSpPr>
        <p:spPr>
          <a:xfrm>
            <a:off x="685800" y="1600200"/>
            <a:ext cx="5074920" cy="35661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</p:sp>
      <p:sp>
        <p:nvSpPr>
          <p:cNvPr id="4" name="right panel"/>
          <p:cNvSpPr/>
          <p:nvPr/>
        </p:nvSpPr>
        <p:spPr>
          <a:xfrm>
            <a:off x="6080760" y="1600200"/>
            <a:ext cx="5074920" cy="35661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</p:sp>
      <p:sp>
        <p:nvSpPr>
          <p:cNvPr id="5" name="left title"/>
          <p:cNvSpPr txBox="1"/>
          <p:nvPr/>
        </p:nvSpPr>
        <p:spPr>
          <a:xfrm>
            <a:off x="960120" y="1874519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lang="vi-VN" sz="2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Chuẩn bị evidence</a:t>
            </a:r>
            <a:endParaRPr lang="vi-VN" sz="2600"/>
          </a:p>
        </p:txBody>
      </p:sp>
      <p:sp>
        <p:nvSpPr>
          <p:cNvPr id="6" name="left bullets"/>
          <p:cNvSpPr txBox="1"/>
          <p:nvPr/>
        </p:nvSpPr>
        <p:spPr>
          <a:xfrm>
            <a:off x="960120" y="2514600"/>
            <a:ext cx="4572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50"/>
              </a:spcAft>
            </a:pPr>
            <a:r>
              <a:rPr lang="vi-VN" sz="19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Test và validators đã chạy lại</a:t>
            </a:r>
            <a:endParaRPr lang="vi-VN" sz="1900"/>
          </a:p>
          <a:p>
            <a:pPr algn="l">
              <a:spcAft>
                <a:spcPts val="450"/>
              </a:spcAft>
            </a:pPr>
            <a:r>
              <a:rPr lang="vi-VN" sz="19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Dashboard có dữ liệu thật</a:t>
            </a:r>
            <a:endParaRPr lang="vi-VN" sz="1900"/>
          </a:p>
          <a:p>
            <a:pPr algn="l">
              <a:spcAft>
                <a:spcPts val="450"/>
              </a:spcAft>
            </a:pPr>
            <a:r>
              <a:rPr lang="vi-VN" sz="19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Log và trace nối bằng correlation_id</a:t>
            </a:r>
            <a:endParaRPr lang="vi-VN" sz="1900"/>
          </a:p>
          <a:p>
            <a:pPr algn="l">
              <a:spcAft>
                <a:spcPts val="450"/>
              </a:spcAft>
            </a:pPr>
            <a:r>
              <a:rPr lang="vi-VN" sz="19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Không lộ secret, PII, file challenge</a:t>
            </a:r>
            <a:endParaRPr lang="vi-VN" sz="1900"/>
          </a:p>
        </p:txBody>
      </p:sp>
      <p:sp>
        <p:nvSpPr>
          <p:cNvPr id="7" name="right title"/>
          <p:cNvSpPr txBox="1"/>
          <p:nvPr/>
        </p:nvSpPr>
        <p:spPr>
          <a:xfrm>
            <a:off x="6355080" y="1874519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lang="vi-VN" sz="2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Tự hỏi trước khi nói</a:t>
            </a:r>
            <a:endParaRPr lang="vi-VN" sz="2600"/>
          </a:p>
        </p:txBody>
      </p:sp>
      <p:sp>
        <p:nvSpPr>
          <p:cNvPr id="8" name="right bullets"/>
          <p:cNvSpPr txBox="1"/>
          <p:nvPr/>
        </p:nvSpPr>
        <p:spPr>
          <a:xfrm>
            <a:off x="6355080" y="2514600"/>
            <a:ext cx="4572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50"/>
              </a:spcAft>
            </a:pPr>
            <a:r>
              <a:rPr lang="vi-VN" sz="19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Metric nào cho thấy vấn đề?</a:t>
            </a:r>
            <a:endParaRPr lang="vi-VN" sz="1900"/>
          </a:p>
          <a:p>
            <a:pPr algn="l">
              <a:spcAft>
                <a:spcPts val="450"/>
              </a:spcAft>
            </a:pPr>
            <a:r>
              <a:rPr lang="vi-VN" sz="19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Request nào bị ảnh hưởng?</a:t>
            </a:r>
            <a:endParaRPr lang="vi-VN" sz="1900"/>
          </a:p>
          <a:p>
            <a:pPr algn="l">
              <a:spcAft>
                <a:spcPts val="450"/>
              </a:spcAft>
            </a:pPr>
            <a:r>
              <a:rPr lang="vi-VN" sz="19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Trace cho thấy bước nào bất thường?</a:t>
            </a:r>
            <a:endParaRPr lang="vi-VN" sz="1900"/>
          </a:p>
          <a:p>
            <a:pPr algn="l">
              <a:spcAft>
                <a:spcPts val="450"/>
              </a:spcAft>
            </a:pPr>
            <a:r>
              <a:rPr lang="vi-VN" sz="19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Hành động xử lý và phòng tránh là gì?</a:t>
            </a:r>
            <a:endParaRPr lang="vi-VN" sz="1900"/>
          </a:p>
        </p:txBody>
      </p:sp>
      <p:sp>
        <p:nvSpPr>
          <p:cNvPr id="9" name="closing"/>
          <p:cNvSpPr txBox="1"/>
          <p:nvPr/>
        </p:nvSpPr>
        <p:spPr>
          <a:xfrm>
            <a:off x="685800" y="5486400"/>
            <a:ext cx="10469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900"/>
              </a:spcAft>
            </a:pPr>
            <a:r>
              <a:rPr lang="vi-VN" sz="23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Demo tốt = có câu chuyện, có bằng chứng, không đoán.</a:t>
            </a:r>
            <a:endParaRPr lang="vi-VN"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an Theme">
  <a:themeElements>
    <a:clrScheme name="Clean">
      <a:dk1>
        <a:srgbClr val="111111"/>
      </a:dk1>
      <a:lt1>
        <a:srgbClr val="FFFFFF"/>
      </a:lt1>
      <a:dk2>
        <a:srgbClr val="1F2937"/>
      </a:dk2>
      <a:lt2>
        <a:srgbClr val="F3F4F6"/>
      </a:lt2>
      <a:accent1>
        <a:srgbClr val="111827"/>
      </a:accent1>
      <a:accent2>
        <a:srgbClr val="374151"/>
      </a:accent2>
      <a:accent3>
        <a:srgbClr val="EEF2FF"/>
      </a:accent3>
      <a:accent4>
        <a:srgbClr val="E5E7EB"/>
      </a:accent4>
      <a:accent5>
        <a:srgbClr val="6B7280"/>
      </a:accent5>
      <a:accent6>
        <a:srgbClr val="9CA3AF"/>
      </a:accent6>
      <a:hlink>
        <a:srgbClr val="2563EB"/>
      </a:hlink>
      <a:folHlink>
        <a:srgbClr val="7C3AED"/>
      </a:folHlink>
    </a:clrScheme>
    <a:fontScheme name="Clean">
      <a:majorFont>
        <a:latin typeface="Aptos Display"/>
        <a:ea typeface="Aptos Display"/>
        <a:cs typeface="Aptos Display"/>
      </a:majorFont>
      <a:minorFont>
        <a:latin typeface="Aptos"/>
        <a:ea typeface="Aptos"/>
        <a:cs typeface="Aptos"/>
      </a:minorFont>
    </a:fontScheme>
    <a:fmtScheme name="Clean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3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Kịch bản demo Day 13</dc:title>
  <dc:creator>Codex</dc:creator>
  <cp:lastModifiedBy>Codex</cp:lastModifiedBy>
  <dcterms:created xsi:type="dcterms:W3CDTF">2026-09-30T03:16:22Z</dcterms:created>
  <dcterms:modified xsi:type="dcterms:W3CDTF">2026-09-30T03:16:22Z</dcterms:modified>
</cp:coreProperties>
</file>